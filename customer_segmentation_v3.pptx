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02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023"/>
                </a:solidFill>
                <a:latin typeface="Calibri"/>
              </a:rPr>
              <a:t>Silhouette по k (2–12) · k=8 выбран для детализации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E70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  <c:pt idx="7">
                    <c:v>k=9</c:v>
                  </c:pt>
                  <c:pt idx="8">
                    <c:v>k=10</c:v>
                  </c:pt>
                  <c:pt idx="9">
                    <c:v>k=11</c:v>
                  </c:pt>
                  <c:pt idx="10">
                    <c:v>k=12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0.365</c:v>
                </c:pt>
                <c:pt idx="1">
                  <c:v>0.351</c:v>
                </c:pt>
                <c:pt idx="2">
                  <c:v>0.168</c:v>
                </c:pt>
                <c:pt idx="3">
                  <c:v>0.174</c:v>
                </c:pt>
                <c:pt idx="4">
                  <c:v>0.176</c:v>
                </c:pt>
                <c:pt idx="5">
                  <c:v>0.174</c:v>
                </c:pt>
                <c:pt idx="6">
                  <c:v>0.145</c:v>
                </c:pt>
                <c:pt idx="7">
                  <c:v>0.149</c:v>
                </c:pt>
                <c:pt idx="8">
                  <c:v>0.145</c:v>
                </c:pt>
                <c:pt idx="9">
                  <c:v>0.145</c:v>
                </c:pt>
                <c:pt idx="10">
                  <c:v>0.125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6E707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0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0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02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023"/>
                </a:solidFill>
                <a:latin typeface="Calibri"/>
              </a:rPr>
              <a:t>Доля женщин/мужчин: база vs каждый кластер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Ж</c:v>
                </c:pt>
              </c:strCache>
            </c:strRef>
          </c:tx>
          <c:spPr>
            <a:solidFill>
              <a:srgbClr val="C99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По базе (эталон)</c:v>
                  </c:pt>
                  <c:pt idx="1">
                    <c:v>Кластер 0</c:v>
                  </c:pt>
                  <c:pt idx="2">
                    <c:v>Кластер 1</c:v>
                  </c:pt>
                  <c:pt idx="3">
                    <c:v>Кластер 2</c:v>
                  </c:pt>
                  <c:pt idx="4">
                    <c:v>Кластер 3</c:v>
                  </c:pt>
                  <c:pt idx="5">
                    <c:v>Кластер 4</c:v>
                  </c:pt>
                  <c:pt idx="6">
                    <c:v>Кластер 5</c:v>
                  </c:pt>
                  <c:pt idx="7">
                    <c:v>Кластер 6</c:v>
                  </c:pt>
                  <c:pt idx="8">
                    <c:v>Кластер 7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33.7</c:v>
                </c:pt>
                <c:pt idx="1">
                  <c:v>34.3</c:v>
                </c:pt>
                <c:pt idx="2">
                  <c:v>34.3</c:v>
                </c:pt>
                <c:pt idx="3">
                  <c:v>32.4</c:v>
                </c:pt>
                <c:pt idx="4">
                  <c:v>32.9</c:v>
                </c:pt>
                <c:pt idx="5">
                  <c:v>31.7</c:v>
                </c:pt>
                <c:pt idx="6">
                  <c:v>34.2</c:v>
                </c:pt>
                <c:pt idx="7">
                  <c:v>36.5</c:v>
                </c:pt>
                <c:pt idx="8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М</c:v>
                </c:pt>
              </c:strCache>
            </c:strRef>
          </c:tx>
          <c:spPr>
            <a:solidFill>
              <a:srgbClr val="2B2D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По базе (эталон)</c:v>
                  </c:pt>
                  <c:pt idx="1">
                    <c:v>Кластер 0</c:v>
                  </c:pt>
                  <c:pt idx="2">
                    <c:v>Кластер 1</c:v>
                  </c:pt>
                  <c:pt idx="3">
                    <c:v>Кластер 2</c:v>
                  </c:pt>
                  <c:pt idx="4">
                    <c:v>Кластер 3</c:v>
                  </c:pt>
                  <c:pt idx="5">
                    <c:v>Кластер 4</c:v>
                  </c:pt>
                  <c:pt idx="6">
                    <c:v>Кластер 5</c:v>
                  </c:pt>
                  <c:pt idx="7">
                    <c:v>Кластер 6</c:v>
                  </c:pt>
                  <c:pt idx="8">
                    <c:v>Кластер 7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66.3</c:v>
                </c:pt>
                <c:pt idx="1">
                  <c:v>65.7</c:v>
                </c:pt>
                <c:pt idx="2">
                  <c:v>65.7</c:v>
                </c:pt>
                <c:pt idx="3">
                  <c:v>67.6</c:v>
                </c:pt>
                <c:pt idx="4">
                  <c:v>67.1</c:v>
                </c:pt>
                <c:pt idx="5">
                  <c:v>68.3</c:v>
                </c:pt>
                <c:pt idx="6">
                  <c:v>65.8</c:v>
                </c:pt>
                <c:pt idx="7">
                  <c:v>63.5</c:v>
                </c:pt>
                <c:pt idx="8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0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0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4572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E4E1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1005840" cy="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7F5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ТИПОЛОГИЯ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7F5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КЛИЕНТСКОЙ БАЗЫ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поведенческих типов из 20 000 клиентов — реальный результат, не гипотеза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20 000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5029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признака · 5 таблиц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5029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0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поведенческих типов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49640" y="5029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549640" y="5623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выручки у 4% базы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C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academy_db  ·  K-Means + DBSCAN  ·  Postgres → pandas →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ДАННЫЕ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Пять таблиц — иначе видна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только половина клиента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0" y="1645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КОЛОНКИ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892808"/>
            <a:ext cx="10881360" cy="0"/>
          </a:xfrm>
          <a:prstGeom prst="line">
            <a:avLst/>
          </a:prstGeom>
          <a:noFill/>
          <a:ln w="12700">
            <a:solidFill>
              <a:srgbClr val="1F20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seg_customers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 birth_date, gender, region, signup_date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жизни + демография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10881360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79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seg_balances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91840" y="2679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month_start, avg_balance_uzs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0" y="2679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Денежный объём и стабильность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00984"/>
            <a:ext cx="10881360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9242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seg_revenue_monthly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91840" y="339242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net_revenue_uzs, interchange, float_income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0" y="33924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для банка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14216"/>
            <a:ext cx="10881360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056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seg_products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410565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product_code, opened_at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0" y="41056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Вовлечённость в продукты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27448"/>
            <a:ext cx="10881360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18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seg_transactions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91840" y="48188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txn_ts, channel, mcc_group, direction, amount_uzs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0" y="48188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Поведение: каналы и категории трат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40680"/>
            <a:ext cx="10881360" cy="0"/>
          </a:xfrm>
          <a:prstGeom prst="line">
            <a:avLst/>
          </a:prstGeom>
          <a:noFill/>
          <a:ln w="9525">
            <a:solidFill>
              <a:srgbClr val="E4E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клиентов  ·  seg_transactions за последние 8 мес. (4.44 млн строк)  ·  исключены seg_temp (пусто), seg_rfm_old и seg_customers_360.crm_segment (готовые чужие сегменты — только как бенчмарк)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ОКНО НАБЛЮДЕНИЯ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месяцев на клиента, от его последней активности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1306 дн.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медианный стаж клиента на конец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5029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3.7%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 со стажем &lt; 6 мес.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029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0.35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медианный CV остатка по месяцам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5029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 с CV &gt; 1 — поведение реально «плывёт»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при небольших процентах — это сотни живых клиентов, для которых усреднение по 24 месяцам физически некорректно. Именно они рискуют лечь в кластер «по стажу», а не «по поведению».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881360" cy="1371600"/>
          </a:xfrm>
          <a:prstGeom prst="rect">
            <a:avLst/>
          </a:prstGeom>
          <a:solidFill>
            <a:srgbClr val="2B2D2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window_end = последний месяц с данными по клиенту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5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window_start = window_end − 5 месяцев (окно = 6 мес.)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ОСИ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Пять осей — клиент это не только оборот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084832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Денежный объём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денег держит и насколько стабильно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8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seg_balances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кластеризации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89504" y="17373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889504" y="2423160"/>
            <a:ext cx="2084832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560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банку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9504" y="31546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банк зарабатывает и за счёт чего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9504" y="4709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8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seg_revenue_monthly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89504" y="5074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кластеризации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138928" y="17373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138928" y="2423160"/>
            <a:ext cx="2084832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2560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/ каналы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38928" y="31546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 на что тратит: pos/ecom/atm/p2p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8928" y="4709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8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seg_transactions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38928" y="5074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кластеризации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88352" y="17373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388352" y="2423160"/>
            <a:ext cx="2084832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2560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жизни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88352" y="31546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Стаж + продуктовая вовлечённость + возраст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88352" y="4709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8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seg_customers + products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88352" y="5074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кластеризации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37776" y="17373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1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637776" y="2423160"/>
            <a:ext cx="2084832" cy="0"/>
          </a:xfrm>
          <a:prstGeom prst="line">
            <a:avLst/>
          </a:prstGeom>
          <a:noFill/>
          <a:ln w="25400">
            <a:solidFill>
              <a:srgbClr val="C996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7776" y="256032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Демография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37776" y="31546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 и регион — разрез после кластеризации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37776" y="4709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58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seg_customers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37776" y="5074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50" i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профилирование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 и регион сознательно не в кластеризации — one-hot 13 регионов и бинарный пол с дисбалансом 66/34 перетягивают геометрию K-means на себя (см. слайд 6). Смотрим их как разрез после.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ФИЧИ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 признака из пяти таблиц — не только обороты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0"/>
          </a:xfrm>
          <a:prstGeom prst="line">
            <a:avLst/>
          </a:prstGeom>
          <a:noFill/>
          <a:ln w="38100">
            <a:solidFill>
              <a:srgbClr val="0F71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tenure_months_at_window_end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age_years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n_products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has_credit_line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606040" cy="0"/>
          </a:xfrm>
          <a:prstGeom prst="line">
            <a:avLst/>
          </a:prstGeom>
          <a:noFill/>
          <a:ln w="38100">
            <a:solidFill>
              <a:srgbClr val="2B2D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Денежный объём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balance_mean_w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balance_std_w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3429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balance_cv_w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balance_trend_w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606040" cy="0"/>
          </a:xfrm>
          <a:prstGeom prst="line">
            <a:avLst/>
          </a:prstGeom>
          <a:noFill/>
          <a:ln w="38100">
            <a:solidFill>
              <a:srgbClr val="C99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net_revenue_mean/sum_w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interchange_sum_w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3429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float_income_sum_w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transfer_fee_sum_w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09360" y="4617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atm_cost_sum_w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5212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interchange_share_w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5806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float_share_w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0" y="1463040"/>
            <a:ext cx="2606040" cy="0"/>
          </a:xfrm>
          <a:prstGeom prst="line">
            <a:avLst/>
          </a:prstGeom>
          <a:noFill/>
          <a:ln w="38100">
            <a:solidFill>
              <a:srgbClr val="E859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/ каналы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2240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channel_share_atm/ecom/pos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0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mcc_category_entropy_w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0" y="3429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txn_count_w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4400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avg_out_ticket_w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0" y="4617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0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p2p_in_to_spend_ratio_w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признака = 26 колонок в таблице признаков минус customer_id, signup_date (не число) и is_male (см. слайд 6) → ровно 23 идут в K-means.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ПРЕОБРАЗОВАНИЕ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Реальная находка: пол пришлось убрать из кластеризации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44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ИСПРАВЛЕНИЯ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is_male как признак кластеризации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из 8 кластеров вышли на 84–100% одного пола — бинарный признак с дисбалансом 66/34 задавил поведенческую структуру тривиальным разбиением по полу.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ИСПРАВЛЕНИЯ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is_male исключён из кластеризации, оставлен только в отчёте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6517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 по кластерам: 32–35% F во всех восьми — ровно как в базе (33.7% F). Кластеры разделились по поведению, а не по полу — то же решение уже было принято для региона.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 (1–99 перцентиль) + StandardScaler на 23 признаках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1234440"/>
          </a:xfrm>
          <a:prstGeom prst="rect">
            <a:avLst/>
          </a:prstGeom>
          <a:solidFill>
            <a:srgbClr val="2B2D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3776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гипотетическая предосторожность — реальный прогон подтвердил риск. Один признак с сильным дисбалансом (регион, пол — что угодно категориальное с явным перекосом) может незаметно стать единственным, что определяет разбиение.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 = 8 — не пик silhouette, и вот почему это осознанно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492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554480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k=8, А НЕ k=2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89520" y="21031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формально выше при k=2–3 (0.35–0.37) — это ожидаемо, silhouette почти всегда убывает с ростом k. Но при k=2–3 клиенты со спящим счётом и VIP с оборотом 44 млн UZS попадают в одну группу.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89520" y="342900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 даёт 8 разных, непересекающихся по смыслу профилей (слайд 8) — задание требует детализации, а не максимума метрики.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5029200"/>
            <a:ext cx="10881360" cy="1143000"/>
          </a:xfrm>
          <a:prstGeom prst="rect">
            <a:avLst/>
          </a:prstGeom>
          <a:solidFill>
            <a:srgbClr val="2B2D2F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2920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«Столько показал локоть» не принимается. Число защищается интерпретируемостью: каждый из 8 кластеров описывается разным поведением и деньгами, а не метрикой самой по себе.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ПОРТРЕТЫ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Восемь разных историй — от «спящих» до private banking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931920" y="12618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1261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ВЫРУЧКИ БАНКА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2700">
            <a:solidFill>
              <a:srgbClr val="1F20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5819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высокодоходные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83794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534 опер/6мес · чек 1.17M UZS · P2P-приток×1.07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931920" y="1581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837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 базы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577840" y="1664208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0" y="1664208"/>
            <a:ext cx="3931920" cy="27432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9646920" y="15819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6920" y="18379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млн/чел.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40080" y="2103120"/>
            <a:ext cx="1088136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2037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6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218541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с переводами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44144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 опер/6мес · P2P-приток×1.39 · разнообразные траты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931920" y="2185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441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 базы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577840" y="2267712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77840" y="2267712"/>
            <a:ext cx="1910840" cy="274320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3"/>
          <p:cNvSpPr/>
          <p:nvPr/>
        </p:nvSpPr>
        <p:spPr>
          <a:xfrm>
            <a:off x="9646920" y="21854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46920" y="2441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млн/чел.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0080" y="2706624"/>
            <a:ext cx="1088136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8072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17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2788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онлайн-покупатели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30449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 48% · 240 опер/6мес · чек 187K UZS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93192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4,162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0" y="3044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базы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5577840" y="2871216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34" name="Shape 32"/>
          <p:cNvSpPr/>
          <p:nvPr/>
        </p:nvSpPr>
        <p:spPr>
          <a:xfrm>
            <a:off x="5577840" y="2871216"/>
            <a:ext cx="1825097" cy="274320"/>
          </a:xfrm>
          <a:prstGeom prst="rect">
            <a:avLst/>
          </a:prstGeom>
          <a:solidFill>
            <a:srgbClr val="0F7173"/>
          </a:solidFill>
          <a:ln/>
        </p:spPr>
      </p:sp>
      <p:sp>
        <p:nvSpPr>
          <p:cNvPr id="35" name="Text 33"/>
          <p:cNvSpPr/>
          <p:nvPr/>
        </p:nvSpPr>
        <p:spPr>
          <a:xfrm>
            <a:off x="964692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46920" y="30449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428,996/чел.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0080" y="3310128"/>
            <a:ext cx="1088136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4107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51560" y="339242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разовые покупки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1560" y="364845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14.3M · чек 999K UZS · умеренная частота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931920" y="33924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31920" y="36484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базы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577840" y="3474720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44" name="Shape 42"/>
          <p:cNvSpPr/>
          <p:nvPr/>
        </p:nvSpPr>
        <p:spPr>
          <a:xfrm>
            <a:off x="5577840" y="3474720"/>
            <a:ext cx="1555619" cy="274320"/>
          </a:xfrm>
          <a:prstGeom prst="rect">
            <a:avLst/>
          </a:prstGeom>
          <a:solidFill>
            <a:srgbClr val="7A5C3E"/>
          </a:solidFill>
          <a:ln/>
        </p:spPr>
      </p:sp>
      <p:sp>
        <p:nvSpPr>
          <p:cNvPr id="45" name="Text 43"/>
          <p:cNvSpPr/>
          <p:nvPr/>
        </p:nvSpPr>
        <p:spPr>
          <a:xfrm>
            <a:off x="9646920" y="33924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646920" y="36484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808,545/чел.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40080" y="3913632"/>
            <a:ext cx="1088136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014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6B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51560" y="399592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вкладчики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51560" y="425196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44.2M UZS — максимум по базе · private banking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3931920" y="3995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93192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 базы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577840" y="4078224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54" name="Shape 52"/>
          <p:cNvSpPr/>
          <p:nvPr/>
        </p:nvSpPr>
        <p:spPr>
          <a:xfrm>
            <a:off x="5577840" y="4078224"/>
            <a:ext cx="1506624" cy="274320"/>
          </a:xfrm>
          <a:prstGeom prst="rect">
            <a:avLst/>
          </a:prstGeom>
          <a:solidFill>
            <a:srgbClr val="3E6B5C"/>
          </a:solidFill>
          <a:ln/>
        </p:spPr>
      </p:sp>
      <p:sp>
        <p:nvSpPr>
          <p:cNvPr id="55" name="Text 53"/>
          <p:cNvSpPr/>
          <p:nvPr/>
        </p:nvSpPr>
        <p:spPr>
          <a:xfrm>
            <a:off x="9646920" y="3995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646920" y="4251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млн/чел.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0080" y="4517136"/>
            <a:ext cx="1088136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4617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051560" y="459943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наличный сегмент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51560" y="485546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35% · 78 опер/6мес · крупнейший сегмент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3931920" y="4599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7,245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931920" y="4855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36.2% базы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5577840" y="4681728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64" name="Shape 62"/>
          <p:cNvSpPr/>
          <p:nvPr/>
        </p:nvSpPr>
        <p:spPr>
          <a:xfrm>
            <a:off x="5577840" y="4681728"/>
            <a:ext cx="1237146" cy="274320"/>
          </a:xfrm>
          <a:prstGeom prst="rect">
            <a:avLst/>
          </a:prstGeom>
          <a:solidFill>
            <a:srgbClr val="586167"/>
          </a:solidFill>
          <a:ln/>
        </p:spPr>
      </p:sp>
      <p:sp>
        <p:nvSpPr>
          <p:cNvPr id="65" name="Text 63"/>
          <p:cNvSpPr/>
          <p:nvPr/>
        </p:nvSpPr>
        <p:spPr>
          <a:xfrm>
            <a:off x="9646920" y="45994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646920" y="48554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166,924/чел.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52212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968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1051560" y="520293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Низкововлечённые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51560" y="545896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опер/6мес · узкий профиль трат · кандидат на реактивацию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3931920" y="5202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3,171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931920" y="5458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 базы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5577840" y="5285232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74" name="Shape 72"/>
          <p:cNvSpPr/>
          <p:nvPr/>
        </p:nvSpPr>
        <p:spPr>
          <a:xfrm>
            <a:off x="5577840" y="5285232"/>
            <a:ext cx="269477" cy="274320"/>
          </a:xfrm>
          <a:prstGeom prst="rect">
            <a:avLst/>
          </a:prstGeom>
          <a:solidFill>
            <a:srgbClr val="9A968D"/>
          </a:solidFill>
          <a:ln/>
        </p:spPr>
      </p:sp>
      <p:sp>
        <p:nvSpPr>
          <p:cNvPr id="75" name="Text 73"/>
          <p:cNvSpPr/>
          <p:nvPr/>
        </p:nvSpPr>
        <p:spPr>
          <a:xfrm>
            <a:off x="9646920" y="52029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46920" y="5458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83,684/чел.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40080" y="5724144"/>
            <a:ext cx="1088136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" y="58247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47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1051560" y="58064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Спящие / неактивные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051560" y="60624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опер/6мес · баланс 563K · почти нулевая выручка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3931920" y="5806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931920" y="6062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 базы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5577840" y="5888736"/>
            <a:ext cx="3931920" cy="274320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84" name="Shape 82"/>
          <p:cNvSpPr/>
          <p:nvPr/>
        </p:nvSpPr>
        <p:spPr>
          <a:xfrm>
            <a:off x="5577840" y="5888736"/>
            <a:ext cx="73152" cy="274320"/>
          </a:xfrm>
          <a:prstGeom prst="rect">
            <a:avLst/>
          </a:prstGeom>
          <a:solidFill>
            <a:srgbClr val="B0473F"/>
          </a:solidFill>
          <a:ln/>
        </p:spPr>
      </p:sp>
      <p:sp>
        <p:nvSpPr>
          <p:cNvPr id="85" name="Text 83"/>
          <p:cNvSpPr/>
          <p:nvPr/>
        </p:nvSpPr>
        <p:spPr>
          <a:xfrm>
            <a:off x="9646920" y="5806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646920" y="60624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17,067/чел.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0080" y="651967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Автоназвание генерируется по z-score отклонению от среднего по базе (раздел 15 ноутбука) — не подобрано на глаз, воспроизводимо. Отсортировано по вкладу в выручку.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РЕЗУЛЬТАТЫ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против DBSCAN: разные методы, честный итог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(k=8)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кластеров, 551–7245 клиентов каждый — все содержательно различимы (слайд 8).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расстояний — предполагает выпуклые, примерно шаровидные кластеры. Наши оси (деньги, доходность, поведение) образуют именно такую непрерывную, но многомерную структуру.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5440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874520"/>
            <a:ext cx="502920" cy="0"/>
          </a:xfrm>
          <a:prstGeom prst="line">
            <a:avLst/>
          </a:prstGeom>
          <a:noFill/>
          <a:ln w="31750">
            <a:solidFill>
              <a:srgbClr val="0F71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DBSCAN (eps=3.69, min_samples=46)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19 174 клиента — один сплошной регион плотности; 443 — вторая, крошечная группа; 383 — шум (выбросы).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ARI(K-means, DBSCAN) = 0.042 — методы почти не согласны. Ожидаемо: DBSCAN ищет плотные разрывы в данных, а наша база — плавный континуум по деньгам и активности, без чётких пустот между группами.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solidFill>
            <a:srgbClr val="2B2D2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вывод: низкий ARI — не ошибка, а свойство данных. K-Means подходит этой задаче лучше именно потому, что клиентская база не делится на плотностные острова — она непрерывна.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УСТОЙЧИВОСТЬ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 если немного изменить данные или метод?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random_state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0" y="1746504"/>
            <a:ext cx="1371600" cy="237744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746504"/>
            <a:ext cx="1355141" cy="237744"/>
          </a:xfrm>
          <a:prstGeom prst="rect">
            <a:avLst/>
          </a:prstGeom>
          <a:solidFill>
            <a:srgbClr val="0F717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6916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85416"/>
            <a:ext cx="635508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58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Половина выборки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313432"/>
            <a:ext cx="1371600" cy="237744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2313432"/>
            <a:ext cx="839419" cy="237744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2585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635508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2549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канальных/категорийных признаков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1371600" cy="237744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2880360"/>
            <a:ext cx="688543" cy="237744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82549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19272"/>
            <a:ext cx="6355080" cy="0"/>
          </a:xfrm>
          <a:prstGeom prst="line">
            <a:avLst/>
          </a:prstGeom>
          <a:noFill/>
          <a:ln w="6350">
            <a:solidFill>
              <a:srgbClr val="E4E1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9242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последнего месяца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447288"/>
            <a:ext cx="1371600" cy="237744"/>
          </a:xfrm>
          <a:prstGeom prst="rect">
            <a:avLst/>
          </a:prstGeom>
          <a:solidFill>
            <a:srgbClr val="E4E1D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3447288"/>
            <a:ext cx="770839" cy="237744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39242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1691640"/>
            <a:ext cx="4343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ПРО ЦИФРЫ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06640" y="224028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0.5–0.6 — не идеал, но и не провал: разбиение узнаваемо после серьёзных изменений (минус половина данных, минус блок признаков), не рассыпается полностью. При k=8 (детальная типология) это ожидаемо — чем больше групп, тем чувствительнее границы.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343400"/>
            <a:ext cx="10881360" cy="1737360"/>
          </a:xfrm>
          <a:prstGeom prst="rect">
            <a:avLst/>
          </a:prstGeom>
          <a:solidFill>
            <a:srgbClr val="2B2D2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ДЛЯ НОВОГО КЛИЕНТА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Ближайший центр кластера (обучен на train, 80% базы)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2578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на 4 000 отложенных клиентах (20%, не участвовали в обучении центров).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49440" y="4709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ARI = 0.561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949440" y="5257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правилом и «если бы клиент был в обучении с самого начала» — умеренное, но реальное согласие: большинство новых клиентов относится туда же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ПРОСТОЕ РАЗБИЕНИЕ ПРОТИВ НАШЕГО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Почему нельзя просто взять квартили оборота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017520" cy="1828800"/>
          </a:xfrm>
          <a:prstGeom prst="rect">
            <a:avLst/>
          </a:prstGeom>
          <a:solidFill>
            <a:srgbClr val="2B2D2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590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0.16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ARI: квартили оборота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наша типология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86200" y="1691640"/>
            <a:ext cx="7635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 из 4 квартилей смешивают несколько наших кластеров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23317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Например, Q4 (топ-25% по обороту): 1212 клиентов из кластера 0, 630 — из кластера 1, 1333 — из кластера 2, 696 — из кластера 4, 819 — из кластера 5, 310 — из кластера 7. Шесть разных поведенческих профилей в одной «денежной» группе.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ARI = типологии структурно разные, не варианты одного и того же. Квартиль оборота не видит: живёт ли клиент на переводах, спит ли счёт, тратит ли крупно и редко или часто по чуть-чуть.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10881360" cy="1737360"/>
          </a:xfrm>
          <a:prstGeom prst="rect">
            <a:avLst/>
          </a:prstGeom>
          <a:solidFill>
            <a:srgbClr val="FBF0DD"/>
          </a:solidFill>
          <a:ln w="12700">
            <a:solidFill>
              <a:srgbClr val="C99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ПРИМЕР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4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6 («Спящие», 551 чел.) и кластер 3 («Низкововлечённые», 3171 чел.) оба попадают в основном в нижние квартили Q1–Q2 по обороту — квартиль видит их как одно и то же «мало платит». Но кластер 6 — это 0.4 операции за 6 месяцев (счёт фактически не используется), а кластер 3 — 30 операций (использует, просто мало). Реактивационная кампания для них должна быть разной.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ДЕМОГРАФИЯ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0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Пол и регион однородны внутри кластеров — и это хороший знак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818120" y="21488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 по базе: 33.7% Ж / 66.3% М. Во всех 8 кластерах — то же самое, ±3 п.п. Это подтверждает: кластеры разделились по поведению, а не превратились в скрытое разбиение по полу (см. слайд 6 — этот риск был реальным).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40233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— тоже без выраженного перекоса: топ-3 региона в каждом кластере разные, без одной доминирующей области.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ОТ КЛАСТЕРОВ К БИЗНЕСУ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5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32% выручки у 4% базы — типология уже меняет решение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высокодоходные (5)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819 чел · 32.1% выручки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персональный менеджер, защита от оттока — стоимость удержания несопоставима с ценностью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4572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737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вкладчики (7)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чел · баланс 44.2М UZS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24231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private banking, инвестпродукты — деньги уже здесь, не в тратах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4572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737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Спящие (6)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 чел · 0.4 опер/6мес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24231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реактивация или честно признать отток — держать «мёртвый» сегмент дороже, чем его закрыть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4572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Низкововлечённые (3)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3171 чел · 15.9% базы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включение через кэшбэк/геймификацию — крупный сегмент, дешёвый в конверсии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4572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657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наличный (1)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43400" y="4023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7245 чел · 36.2% базы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4343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перевод на безнал снижает издержки банка на инкассацию — крупнейший сегмент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3520440"/>
            <a:ext cx="4572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657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Онлайн-покупатели (0)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46720" y="4023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9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4162 чел · ecom 48%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343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партнёрства с маркетплейсами, повышенный кэшбэк в топ-категориях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 создаёт группы. Профилирование даёт им смысл. Бизнес превращает их в решения — «кластеры, которые не меняют ни одного решения, стоят ноль».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2026-08-20T05:09:23Z</dcterms:created>
  <dcterms:modified xsi:type="dcterms:W3CDTF">2026-08-20T05:09:23Z</dcterms:modified>
</cp:coreProperties>
</file>